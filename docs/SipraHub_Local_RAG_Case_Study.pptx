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114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ENTERPRISE AI PORTFOLIO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1A1A1A"/>
                </a:solidFill>
                <a:latin typeface="Calibri"/>
              </a:rPr>
              <a:t>SipraHub Local RAG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Grounded Conversational Intelligence &amp; Sovereign Document Search</a:t>
            </a:r>
          </a:p>
          <a:p>
            <a:pPr>
              <a:spcBef>
                <a:spcPts val="1600"/>
              </a:spcBef>
            </a:pPr>
            <a:r>
              <a:rPr sz="1100">
                <a:solidFill>
                  <a:srgbClr val="7A7A7A"/>
                </a:solidFill>
                <a:latin typeface="Calibri"/>
              </a:rPr>
              <a:t>Delivering enterprise-grade data privacy, hybrid semantic search, and real-time verifiable document answers without cloud data leakage.</a:t>
            </a:r>
          </a:p>
          <a:p>
            <a:pPr>
              <a:spcBef>
                <a:spcPts val="2200"/>
              </a:spcBef>
            </a:pPr>
            <a:r>
              <a:rPr sz="950" b="1">
                <a:solidFill>
                  <a:srgbClr val="1A1A1A"/>
                </a:solidFill>
                <a:latin typeface="Calibri"/>
              </a:rPr>
              <a:t>CATEGORY: </a:t>
            </a:r>
            <a:r>
              <a:rPr sz="950">
                <a:solidFill>
                  <a:srgbClr val="CE2124"/>
                </a:solidFill>
                <a:latin typeface="Calibri"/>
              </a:rPr>
              <a:t>Enterprise AI | Retrieval-Augmented Generation | Private Knowledge Base</a:t>
            </a:r>
          </a:p>
        </p:txBody>
      </p:sp>
      <p:pic>
        <p:nvPicPr>
          <p:cNvPr id="3" name="Picture 2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40080"/>
            <a:ext cx="3931920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Executive Summary: Enterprise Document Intelligence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SipraHub engineered a fully sovereign Local RAG platform enabling employees to converse naturally with internal HR policies, software PRDs, and architecture blueprints with zero hallucination and complete data privacy.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31.5s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End-to-End Latency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Down from 218s via real-time token streaming and memory fast-paths.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Data Sovereignty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All embeddings &amp; document context stay strictly within private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Strict anti-hallucination prompt guardrails suppress unstated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74519"/>
            <a:ext cx="1874519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1600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E2124"/>
                </a:solidFill>
                <a:latin typeface="Calibri"/>
              </a:rPr>
              <a:t>13+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Document Formats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7A7A7A"/>
                </a:solidFill>
                <a:latin typeface="Calibri"/>
              </a:rPr>
              <a:t>Native parsing for PDF, DOCX, XLSX, PPTX, Markdown, and text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Operational Friction &amp; Governance Bottlenecks</a:t>
            </a:r>
          </a:p>
          <a:p>
            <a:r>
              <a:rPr sz="1100">
                <a:solidFill>
                  <a:srgbClr val="3D3D3D"/>
                </a:solidFill>
                <a:latin typeface="Calibri"/>
              </a:rPr>
              <a:t>Modern enterprises face severe trade-offs between generative AI productivity and information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Information Fragmentation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Internal policies, software specifications, and architectural documentation are siloed across disparate Word, PDF, and spreadsheet files with no unified semantic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Hallucination &amp; Compliance Risk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Public cloud LLMs routinely fabricate plausible HR policies (e.g. non-existent leave allocations or benefits), exposing businesses to employee confusion and legal liabilities.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Data Sovereignty &amp; IP Leakage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Strict regulatory constraints prohibit transmitting sensitive corporate strategy, PRDs, and architecture documents to third-party public AI providers.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737360"/>
            <a:ext cx="1874519" cy="27432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1600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E2124"/>
                </a:solidFill>
                <a:latin typeface="Calibri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Productivity &amp; Resolution Latency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Employees and support teams waste hours manually cross-referencing multi-page policy binders and engineering tickets to answer basic operational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SipraHub Local RAG Architecture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SipraHub developed a dual-engine sovereign RAG framework combining dense vector embeddings with neural cross-encoder reranking and real-time streaming.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Hybrid Retrieval Engine: </a:t>
            </a:r>
            <a:r>
              <a:rPr sz="1000">
                <a:solidFill>
                  <a:srgbClr val="3D3D3D"/>
                </a:solidFill>
                <a:latin typeface="Calibri"/>
              </a:rPr>
              <a:t>Combines 768-dimensional vector cosine similarity (&lt;=&gt;) with PostgreSQL tsvector full-text search for comprehensive coverage.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FlashRank Neural Reranking: </a:t>
            </a:r>
            <a:r>
              <a:rPr sz="1000">
                <a:solidFill>
                  <a:srgbClr val="3D3D3D"/>
                </a:solidFill>
                <a:latin typeface="Calibri"/>
              </a:rPr>
              <a:t>Filters top-30 candidate chunks down to the top-10 most relevant passages using ms-marco-TinyBERT-L-2-v2.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Strict Grounding Safeguards: </a:t>
            </a:r>
            <a:r>
              <a:rPr sz="1000">
                <a:solidFill>
                  <a:srgbClr val="3D3D3D"/>
                </a:solidFill>
                <a:latin typeface="Calibri"/>
              </a:rPr>
              <a:t>System prompts strictly mandate that unmentioned policies cannot be inferred or answered from pre-trained knowledge.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CE2124"/>
                </a:solidFill>
                <a:latin typeface="Calibri"/>
              </a:rPr>
              <a:t>OmniRoute AI Gateway: </a:t>
            </a:r>
            <a:r>
              <a:rPr sz="1000">
                <a:solidFill>
                  <a:srgbClr val="3D3D3D"/>
                </a:solidFill>
                <a:latin typeface="Calibri"/>
              </a:rPr>
              <a:t>Enables seamless switching between local Ollama instances and cloud inference models without backend code changes.</a:t>
            </a:r>
          </a:p>
        </p:txBody>
      </p:sp>
      <p:pic>
        <p:nvPicPr>
          <p:cNvPr id="4" name="Picture 3" descr="hero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31520"/>
            <a:ext cx="3840480" cy="37490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Intuitive Enterprise UI with Verifiable Provenance</a:t>
            </a:r>
          </a:p>
        </p:txBody>
      </p:sp>
      <p:pic>
        <p:nvPicPr>
          <p:cNvPr id="4" name="Picture 3" descr="doc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75488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280160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96128" y="1353312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Central Document Registry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Users upload multi-format documents and track ingestion status, chunk count, and file size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084831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96128" y="2157984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Real-Time Token Streaming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Responses stream word-by-word with sub-4-second Time-To-First-Token, eliminating waiting spinners.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889503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6128" y="2962656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Verified Source Badges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Every generated claim features interactive citation pills linking directly to document version and chunk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3694176"/>
            <a:ext cx="3108960" cy="713232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3767328"/>
            <a:ext cx="2880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Anti-Hallucination Guard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Explicit refusal mechanisms prevent fabricating benefits or rules absent from local company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KEY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Enterprise-Grade RAG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Hybrid Semantic Retrieval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Dense vector search using 768-dimensional embeddings alongside PostgreSQL tsvector full-text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Neural Cross-Encoder Reranker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FlashRank ms-marco-TinyBERT-L-2-v2 reranker scores candidate chunks to eliminate retrieval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48132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Real-Time Token Streaming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True Server-Sent Events (SSE) streaming delivers immediate typing feedback while filtering internal thinking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Multi-Format Ingestion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Automated parsing and character-span chunking for PDF, DOCX, XLSX, PPTX, and Markdown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Traceable Source Attribution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Deterministic chunk IDs embedded in metadata ensure auditability for enterprise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127248"/>
            <a:ext cx="2286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Dual-Tier Chat Memory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Sliding window of recent messages combined with asynchronous long-term preference extraction.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Modular Dual-Engine System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8046720" cy="3337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Document Ingestion &amp; Query Resolution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1. Ingest &amp; Dedupe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Document upload validated for MIME and SHA-256 hash to prevent redundant vector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1952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75104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2. Paragraph Chunk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1500-character window with 300-char overlap, respecting natural paragraph breaks (\n\n).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3. Dense Embedding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Ollama nomic-embed-text generates 768-dimensional vectors stored in Supabase PostgreSQL.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08576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4. Hybrid Search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Cosine similarity (&lt;=&gt;) and tsvector full-text search retrieve top-30 candidate chunks.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5. Cross-Encoder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FlashRank TinyBERT reranks top-30 chunks to extract top-10 high-precision passages.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54480"/>
            <a:ext cx="123444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645920"/>
            <a:ext cx="1097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6. Streamed Answer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3D3D3D"/>
                </a:solidFill>
                <a:latin typeface="Calibri"/>
              </a:rPr>
              <a:t>OmniRoute/Ollama streams grounded answer via SSE with source citation pills.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Verified Performance &amp; Governance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85%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Latency Reduction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Streaming architecture and CPU memory bypass dropped response latency from 218 seconds to 31.5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Source Citation Auditability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Every policy response includes clickable source badges mapping directly to raw document chunks.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0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Fabricated Policies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Strict anti-hallucination grounding ensures unstated rules (e.g. sick or maternity leave) are refused.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45920"/>
            <a:ext cx="1874519" cy="283464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83080"/>
            <a:ext cx="1600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E2124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A1A1A"/>
                </a:solidFill>
                <a:latin typeface="Calibri"/>
              </a:rPr>
              <a:t>Data Sovereignty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Internal documentation stays within self-hosted infrastructure, avoiding third-party public AI exposure.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Data Protection &amp; Security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Private Vector Plane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Document chunks and embeddings reside exclusively within enterprise PostgreSQL tables, completely isolated from public internet scrapers or multi-tenant AI training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Cryptographic JWT Authentication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Strict token validation powered by bcrypt password hashing. Production security validators automatically reject weak or short JWT secrets (&lt;32 characters).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Adversarial Prompt Neutralization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System prompt explicitly commands the model to treat document and image content strictly as data, neutralizing prompt injection payloads embedded in uploaded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017520"/>
            <a:ext cx="3931920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154679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E2124"/>
                </a:solidFill>
                <a:latin typeface="Calibri"/>
              </a:rPr>
              <a:t>User Session Scoping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Chat sessions, uploaded documents, and long-term user memories are deterministically linked to authenticated user UUIDs, preventing cross-tenant leakage.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Transformation: Traditional vs SipraHub Local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A7A7A"/>
                </a:solidFill>
                <a:latin typeface="Calibri"/>
              </a:rPr>
              <a:t>BEFORE (Manual &amp; Unverified Search)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Manual file browsing across fragmented network drives.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Public LLMs hallucinating unstated company policies.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Zero traceability or document paragraph attribution.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Compliance risks from uploading proprietary files to cloud APIs.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[X]  Static keywords failing on conceptual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3017520"/>
          </a:xfrm>
          <a:prstGeom prst="roundRect">
            <a:avLst/>
          </a:prstGeom>
          <a:solidFill>
            <a:srgbClr val="FEF2F2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E2124"/>
                </a:solidFill>
                <a:latin typeface="Calibri"/>
              </a:rPr>
              <a:t>AFTER (SipraHub Sovereign Local RAG)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Instant conversational discovery across 13+ file formats.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Strict anti-hallucination rules with zero fabricated policies.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Clickable source citations with version and chunk provenance.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100% data sovereignty with self-hosted vector databases.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1A1A1A"/>
                </a:solidFill>
                <a:latin typeface="Calibri"/>
              </a:rPr>
              <a:t>[OK]  Hybrid search + neural cross-encoder reranking for precision.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Delivered Engineering &amp; Operational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Sub-4s Real-Time Streaming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Eliminated total response buffering, providing users with immediate real-time typing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Multi-Provider Flexibility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Seamlessly toggles between local Ollama (Qwen 3) and OmniRoute AI Gateway without backend refactoring.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Context-Safe Paragraph Chunking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1500-character window preserves complete policy clauses and technical rules without truncating thoughts.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Integrated Evaluation Harness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Automated calculation of Hit@K, citation validity, and refusal behavior directly in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Zero Public API Dependency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Eliminates monthly per-token API costs and shields internal data from external vendors.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High-Adoption Enterprise UI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Clean React 18 interface designed for both non-technical business staff and engineers.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Enterprise Scalability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1 (Q1)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Departmental Access Control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Document-level Role-Based Access Control (RBAC).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Active Directory / LDAP enterprise SSO integration.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Multi-workspace tenant partitioning.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2 (Q2)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Scanned OCR &amp; Multi-Hop Agents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PaddleOCR pipeline for scanned physical paperwork.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Multi-hop reasoning agents for cross-document synthesis.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Visual diagram &amp; chart extraction for blueprints.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08760"/>
            <a:ext cx="2560320" cy="30175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PHASE 3 (Q3)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A1A1A"/>
                </a:solidFill>
                <a:latin typeface="Calibri"/>
              </a:rPr>
              <a:t>Dedicated GPU Acceleration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Provisioning dedicated on-premise RTX/A-series GPUs.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Sub-10-second total response generation.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3D3D3D"/>
                </a:solidFill>
                <a:latin typeface="Calibri"/>
              </a:rPr>
              <a:t>- Automated continuous evaluation CI/CD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Verified Production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Frontend Application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React 18, TypeScript, Vite, Tailwind CSS, Lucide Icons, EventSource SSE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Backend &amp; API Layer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FastAPI (Python 3.12), Pydantic v2, SQLAlchemy 2.0 (asyncpg), Uvicorn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Vector &amp; Database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PostgreSQL + pgvector (Supabase), nomic-embed-text (768-dim), tsvector indexing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517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Retrieval &amp; Reranking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Cosine Similarity (&lt;=&gt;), FlashRank (ms-marco-TinyBERT-L-2-v2), Reciprocal Rank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Inference &amp; LLM Serving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OmniRoute AI Gateway (port 20128), Ollama (qwen3:8b), NVIDIA NIM Cloud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3931920" cy="960120"/>
          </a:xfrm>
          <a:prstGeom prst="roundRect">
            <a:avLst/>
          </a:prstGeom>
          <a:solidFill>
            <a:srgbClr val="F8F9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749039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E2124"/>
                </a:solidFill>
                <a:latin typeface="Calibri"/>
              </a:rPr>
              <a:t>Parsing &amp; Storage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3D3D3D"/>
                </a:solidFill>
                <a:latin typeface="Calibri"/>
              </a:rPr>
              <a:t>pypdf, python-docx, openpyxl, python-pptx, Supabase S3-compatible file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CE2124"/>
                </a:solidFill>
                <a:latin typeface="Calibri"/>
              </a:rPr>
              <a:t>CASE STUDY 06.  </a:t>
            </a:r>
            <a:r>
              <a:rPr sz="950" b="1">
                <a:solidFill>
                  <a:srgbClr val="7A7A7A"/>
                </a:solidFill>
                <a:latin typeface="Calibri"/>
              </a:rPr>
              <a:t>| 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777240"/>
            <a:ext cx="8046720" cy="3794760"/>
          </a:xfrm>
          <a:prstGeom prst="roundRect">
            <a:avLst/>
          </a:prstGeom>
          <a:solidFill>
            <a:srgbClr val="F8F9FA"/>
          </a:solidFill>
          <a:ln>
            <a:solidFill>
              <a:srgbClr val="CE2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From Complex Unstructured Documents to Intelligent, Sovereign Outcomes.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3D3D3D"/>
                </a:solidFill>
                <a:latin typeface="Calibri"/>
              </a:rPr>
              <a:t>SipraHub Local RAG delivers private, auditable, and low-latency generative AI for enterprises that cannot compromise on data privacy or answer accuracy.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- 100% Sovereign Data Plane: Zero document exposure to public LLM training pipelines.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Zero Policy Hallucination: Strict citation attribution tying every statement to source chunks.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Sub-4s Real-Time Streaming: Instant user feedback powered by optimized inference gateways.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D3D3D"/>
                </a:solidFill>
                <a:latin typeface="Calibri"/>
              </a:rPr>
              <a:t>- Enterprise-Ready Architecture: Production-grade FastAPI, React 18, and PostgreSQL foundation.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1A1A1A"/>
                </a:solidFill>
                <a:latin typeface="Calibri"/>
              </a:rPr>
              <a:t>SipraHub  |  AI-Driven Digital Transformation  |  </a:t>
            </a:r>
            <a:r>
              <a:rPr sz="1100" b="1">
                <a:solidFill>
                  <a:srgbClr val="CE2124"/>
                </a:solidFill>
                <a:latin typeface="Calibri"/>
              </a:rPr>
              <a:t>www.siprahub.com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73168"/>
            <a:ext cx="804672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809744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1">
                <a:solidFill>
                  <a:srgbClr val="CE2124"/>
                </a:solidFill>
                <a:latin typeface="Calibri"/>
              </a:rPr>
              <a:t>SipraHub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809744"/>
            <a:ext cx="3291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50">
                <a:solidFill>
                  <a:srgbClr val="7A7A7A"/>
                </a:solidFill>
                <a:latin typeface="Calibri"/>
              </a:rPr>
              <a:t>AI-Driven 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809744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